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360" r:id="rId3"/>
    <p:sldId id="362" r:id="rId5"/>
    <p:sldId id="363" r:id="rId6"/>
    <p:sldId id="364" r:id="rId7"/>
    <p:sldId id="377" r:id="rId8"/>
    <p:sldId id="366" r:id="rId9"/>
    <p:sldId id="367" r:id="rId10"/>
    <p:sldId id="368" r:id="rId11"/>
    <p:sldId id="385" r:id="rId12"/>
    <p:sldId id="369" r:id="rId13"/>
    <p:sldId id="370" r:id="rId14"/>
    <p:sldId id="378" r:id="rId15"/>
    <p:sldId id="379" r:id="rId16"/>
    <p:sldId id="371" r:id="rId17"/>
    <p:sldId id="372" r:id="rId18"/>
    <p:sldId id="380" r:id="rId19"/>
    <p:sldId id="386" r:id="rId20"/>
    <p:sldId id="373" r:id="rId21"/>
    <p:sldId id="381" r:id="rId22"/>
    <p:sldId id="387" r:id="rId23"/>
  </p:sldIdLst>
  <p:sldSz cx="12192000" cy="6858000"/>
  <p:notesSz cx="6858000" cy="9144000"/>
  <p:embeddedFontLst>
    <p:embeddedFont>
      <p:font typeface="Microsoft YaHei" panose="020B0503020204020204" pitchFamily="34" charset="-122"/>
      <p:regular r:id="rId27"/>
      <p:bold r:id="rId28"/>
    </p:embeddedFont>
    <p:embeddedFont>
      <p:font typeface="Wingdings 2" panose="05020102010507070707" pitchFamily="18" charset="2"/>
      <p:regular r:id="rId29"/>
    </p:embeddedFont>
    <p:embeddedFont>
      <p:font typeface="DengXian" panose="02010600030101010101" charset="-122"/>
      <p:regular r:id="rId30"/>
      <p:bold r:id="rId31"/>
    </p:embeddedFont>
    <p:embeddedFont>
      <p:font typeface="DengXian Light" panose="02010600030101010101" charset="-122"/>
      <p:regular r:id="rId32"/>
    </p:embeddedFont>
  </p:embeddedFontLst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6" userDrawn="1">
          <p15:clr>
            <a:srgbClr val="A4A3A4"/>
          </p15:clr>
        </p15:guide>
        <p15:guide id="2" pos="37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32" y="48"/>
      </p:cViewPr>
      <p:guideLst>
        <p:guide orient="horz" pos="2026"/>
        <p:guide pos="3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5.xml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38427-C6DE-454A-BBB4-FFF6BD7EE6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8E3F9-5158-427E-AEB3-5AFAA28859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03792-80AE-42B4-B403-9EE75599D3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64515-D8C7-4BCC-9B7D-7AAD821193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42C1E-5C31-4C14-8778-A1F8893BFB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 hidden="1"/>
          <p:cNvSpPr/>
          <p:nvPr/>
        </p:nvSpPr>
        <p:spPr>
          <a:xfrm>
            <a:off x="11318247" y="2547071"/>
            <a:ext cx="258226" cy="258226"/>
          </a:xfrm>
          <a:prstGeom prst="ellipse">
            <a:avLst/>
          </a:prstGeom>
          <a:solidFill>
            <a:srgbClr val="1D6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579328" y="2725413"/>
            <a:ext cx="4653280" cy="903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学生成绩管理系统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93"/>
            <a:ext cx="12192000" cy="6844030"/>
          </a:xfrm>
          <a:prstGeom prst="rect">
            <a:avLst/>
          </a:prstGeom>
        </p:spPr>
      </p:pic>
      <p:sp>
        <p:nvSpPr>
          <p:cNvPr id="3" name="TextBox 7"/>
          <p:cNvSpPr txBox="1"/>
          <p:nvPr/>
        </p:nvSpPr>
        <p:spPr>
          <a:xfrm>
            <a:off x="2003728" y="565843"/>
            <a:ext cx="9708543" cy="70675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</a:rPr>
              <a:t>学生成绩管理系统</a:t>
            </a:r>
            <a:r>
              <a:rPr lang="en-US" altLang="zh-CN" sz="4000" b="1" dirty="0">
                <a:latin typeface="Arial" panose="020B0604020202020204" pitchFamily="34" charset="0"/>
              </a:rPr>
              <a:t>包含以下功能</a:t>
            </a:r>
            <a:endParaRPr lang="en-US" altLang="zh-CN" sz="4000" b="1" spc="3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03592" y="1541759"/>
            <a:ext cx="9557468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Arial" panose="020B0604020202020204" pitchFamily="34" charset="0"/>
              </a:rPr>
              <a:t>一</a:t>
            </a:r>
            <a:r>
              <a:rPr lang="zh-CN" altLang="en-US" sz="2000" b="1" dirty="0">
                <a:latin typeface="Arial" panose="020B0604020202020204" pitchFamily="34" charset="0"/>
                <a:sym typeface="Wingdings 2" panose="05020102010507070707" pitchFamily="18" charset="2"/>
              </a:rPr>
              <a:t>、用户注册和登录：</a:t>
            </a:r>
            <a:endParaRPr lang="zh-CN" altLang="en-US" sz="2000" b="1" dirty="0">
              <a:latin typeface="Arial" panose="020B0604020202020204" pitchFamily="34" charset="0"/>
              <a:sym typeface="Wingdings 2" panose="05020102010507070707" pitchFamily="18" charset="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Arial" panose="020B0604020202020204" pitchFamily="34" charset="0"/>
                <a:sym typeface="Wingdings 2" panose="05020102010507070707" pitchFamily="18" charset="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Wingdings 2" panose="05020102010507070707" pitchFamily="18" charset="2"/>
              </a:rPr>
              <a:t>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、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添加数据验证（学号唯一性、成绩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0-100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范围等）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、从文件导入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用户信息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userinfo.txt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Arial" panose="020B0604020202020204" pitchFamily="34" charset="0"/>
              </a:rPr>
              <a:t>二、显示菜单</a:t>
            </a:r>
            <a:br>
              <a:rPr lang="en-US" altLang="zh-CN" sz="3200" b="1" dirty="0"/>
            </a:br>
            <a:r>
              <a:rPr lang="en-US" altLang="zh-CN" sz="3200" b="1" dirty="0"/>
              <a:t>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、Creat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：创建学生链表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Insert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：插入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学生信息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Modify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修改学生信息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Delete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删除学生信息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Wingdings 2" panose="05020102010507070707" pitchFamily="18" charset="2"/>
            </a:endParaRPr>
          </a:p>
          <a:p>
            <a:pPr lv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    5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Print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：输出学生信息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Wingdings 2" panose="05020102010507070707" pitchFamily="18" charset="2"/>
            </a:endParaRPr>
          </a:p>
          <a:p>
            <a:pPr lv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    6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Load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：从文件导入学生信息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Wingdings 2" panose="05020102010507070707" pitchFamily="18" charset="2"/>
            </a:endParaRPr>
          </a:p>
          <a:p>
            <a:pPr lv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    7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Save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：保存学生信息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Wingdings 2" panose="05020102010507070707" pitchFamily="18" charset="2"/>
            </a:endParaRPr>
          </a:p>
          <a:p>
            <a:pPr lv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    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Exit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pitchFamily="18" charset="2"/>
              </a:rPr>
              <a:t>：退出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Wingdings 2" panose="05020102010507070707" pitchFamily="18" charset="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0" y="-2769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93"/>
            <a:ext cx="12192000" cy="6844030"/>
          </a:xfrm>
          <a:prstGeom prst="rect">
            <a:avLst/>
          </a:prstGeom>
        </p:spPr>
      </p:pic>
      <p:sp>
        <p:nvSpPr>
          <p:cNvPr id="3" name="TextBox 7"/>
          <p:cNvSpPr txBox="1"/>
          <p:nvPr/>
        </p:nvSpPr>
        <p:spPr>
          <a:xfrm>
            <a:off x="2576103" y="276999"/>
            <a:ext cx="900211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</a:rPr>
              <a:t>项目算法说明</a:t>
            </a:r>
            <a:endParaRPr lang="en-US" altLang="zh-CN" sz="4000" b="1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37130" y="824865"/>
            <a:ext cx="9279255" cy="5920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Char char=""/>
            </a:pPr>
            <a:r>
              <a:rPr lang="zh-CN" altLang="en-US" sz="2400" dirty="0">
                <a:latin typeface="Arial" panose="020B0604020202020204" pitchFamily="34" charset="0"/>
              </a:rPr>
              <a:t>注册登陆</a:t>
            </a:r>
            <a:r>
              <a:rPr lang="en-US" altLang="zh-CN" sz="2400" dirty="0">
                <a:latin typeface="Arial" panose="020B0604020202020204" pitchFamily="34" charset="0"/>
              </a:rPr>
              <a:t>( login函数）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Char char=""/>
            </a:pPr>
            <a:r>
              <a:rPr lang="zh-CN" altLang="en-US" sz="2400" dirty="0">
                <a:latin typeface="Arial" panose="020B0604020202020204" pitchFamily="34" charset="0"/>
              </a:rPr>
              <a:t>菜单显示</a:t>
            </a:r>
            <a:r>
              <a:rPr lang="en-US" altLang="zh-CN" sz="2400" dirty="0">
                <a:latin typeface="Arial" panose="020B0604020202020204" pitchFamily="34" charset="0"/>
              </a:rPr>
              <a:t>( displaymenu函数）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Char char=""/>
            </a:pPr>
            <a:r>
              <a:rPr lang="zh-CN" altLang="en-US" sz="2400" dirty="0">
                <a:latin typeface="Arial" panose="020B0604020202020204" pitchFamily="34" charset="0"/>
              </a:rPr>
              <a:t>创建链表</a:t>
            </a:r>
            <a:r>
              <a:rPr lang="en-US" altLang="zh-CN" sz="2400" dirty="0">
                <a:latin typeface="Arial" panose="020B0604020202020204" pitchFamily="34" charset="0"/>
              </a:rPr>
              <a:t>( Create_Stu_Doc()函数）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Char char=""/>
            </a:pPr>
            <a:r>
              <a:rPr lang="zh-CN" altLang="en-US" sz="2400" dirty="0">
                <a:latin typeface="Arial" panose="020B0604020202020204" pitchFamily="34" charset="0"/>
              </a:rPr>
              <a:t>插入结点</a:t>
            </a:r>
            <a:r>
              <a:rPr lang="en-US" altLang="zh-CN" sz="2400" dirty="0">
                <a:latin typeface="Arial" panose="020B0604020202020204" pitchFamily="34" charset="0"/>
              </a:rPr>
              <a:t>( InsertDoc函数）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Char char=""/>
            </a:pPr>
            <a:r>
              <a:rPr lang="zh-CN" altLang="en-US" sz="2400" dirty="0">
                <a:latin typeface="Arial" panose="020B0604020202020204" pitchFamily="34" charset="0"/>
              </a:rPr>
              <a:t>修改节点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( Modify函数）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Char char=""/>
            </a:pPr>
            <a:r>
              <a:rPr lang="zh-CN" altLang="en-US" sz="2400" dirty="0">
                <a:latin typeface="Arial" panose="020B0604020202020204" pitchFamily="34" charset="0"/>
              </a:rPr>
              <a:t>删除结点</a:t>
            </a:r>
            <a:r>
              <a:rPr lang="en-US" altLang="zh-CN" sz="2400" dirty="0">
                <a:latin typeface="Arial" panose="020B0604020202020204" pitchFamily="34" charset="0"/>
              </a:rPr>
              <a:t>( DeleteDoc函数）</a:t>
            </a:r>
            <a:endParaRPr lang="zh-CN" altLang="zh-CN" sz="24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Char char=""/>
            </a:pPr>
            <a:r>
              <a:rPr lang="zh-CN" altLang="en-US" sz="2400" dirty="0">
                <a:latin typeface="Arial" panose="020B0604020202020204" pitchFamily="34" charset="0"/>
              </a:rPr>
              <a:t>输出信息</a:t>
            </a:r>
            <a:r>
              <a:rPr lang="en-US" altLang="zh-CN" sz="2400" dirty="0">
                <a:latin typeface="Arial" panose="020B0604020202020204" pitchFamily="34" charset="0"/>
              </a:rPr>
              <a:t>（Print_Stu_Doc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函数</a:t>
            </a:r>
            <a:r>
              <a:rPr lang="en-US" altLang="zh-CN" sz="2400" dirty="0">
                <a:latin typeface="Arial" panose="020B0604020202020204" pitchFamily="34" charset="0"/>
              </a:rPr>
              <a:t>）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457200" indent="-457200" algn="l" eaLnBrk="0" fontAlgn="base" hangingPunct="0">
              <a:lnSpc>
                <a:spcPct val="150000"/>
              </a:lnSpc>
              <a:buClrTx/>
              <a:buSzTx/>
              <a:buFont typeface="Wingdings 2" panose="05020102010507070707" pitchFamily="18" charset="2"/>
              <a:buChar char="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从文件中读取数据（loadstudents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函数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）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 marL="457200" indent="-457200" algn="l" eaLnBrk="0" fontAlgn="base" hangingPunct="0">
              <a:lnSpc>
                <a:spcPct val="150000"/>
              </a:lnSpc>
              <a:buClrTx/>
              <a:buSzTx/>
              <a:buFont typeface="Wingdings 2" panose="05020102010507070707" pitchFamily="18" charset="2"/>
              <a:buChar char=""/>
            </a:pPr>
            <a:r>
              <a:rPr lang="zh-CN" altLang="en-US" sz="2400" dirty="0">
                <a:latin typeface="Arial" panose="020B0604020202020204" pitchFamily="34" charset="0"/>
              </a:rPr>
              <a:t>存入文件（</a:t>
            </a:r>
            <a:r>
              <a:rPr lang="en-US" altLang="zh-CN" sz="2400" dirty="0">
                <a:latin typeface="Arial" panose="020B0604020202020204" pitchFamily="34" charset="0"/>
              </a:rPr>
              <a:t>savestudents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函数</a:t>
            </a:r>
            <a:r>
              <a:rPr lang="zh-CN" altLang="en-US" sz="2400" dirty="0">
                <a:latin typeface="Arial" panose="020B0604020202020204" pitchFamily="34" charset="0"/>
              </a:rPr>
              <a:t>）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0" y="-2769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命令描述：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8575" y="968375"/>
            <a:ext cx="5578475" cy="514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登录和注册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( 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login函数）</a:t>
            </a: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3265" y="1779905"/>
            <a:ext cx="4272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dirty="0">
                <a:latin typeface="Times New Roman" panose="02020603050405020304" charset="0"/>
                <a:ea typeface="inherit"/>
                <a:cs typeface="Times New Roman" panose="02020603050405020304" charset="0"/>
                <a:sym typeface="+mn-ea"/>
              </a:rPr>
              <a:t>注册</a:t>
            </a:r>
            <a:r>
              <a:rPr lang="en-US" altLang="zh-CN" dirty="0">
                <a:latin typeface="Times New Roman" panose="02020603050405020304" charset="0"/>
                <a:ea typeface="inherit"/>
                <a:cs typeface="Times New Roman" panose="02020603050405020304" charset="0"/>
                <a:sym typeface="+mn-ea"/>
              </a:rPr>
              <a:t>：adduser</a:t>
            </a:r>
            <a:r>
              <a:rPr lang="zh-CN" altLang="en-US" dirty="0">
                <a:latin typeface="Times New Roman" panose="02020603050405020304" charset="0"/>
                <a:ea typeface="inherit"/>
                <a:cs typeface="Times New Roman" panose="02020603050405020304" charset="0"/>
                <a:sym typeface="+mn-ea"/>
              </a:rPr>
              <a:t>函数和</a:t>
            </a:r>
            <a:r>
              <a:rPr lang="en-US" altLang="zh-CN" dirty="0">
                <a:latin typeface="Times New Roman" panose="02020603050405020304" charset="0"/>
                <a:ea typeface="inherit"/>
                <a:cs typeface="Times New Roman" panose="02020603050405020304" charset="0"/>
                <a:sym typeface="+mn-ea"/>
              </a:rPr>
              <a:t>encrypt</a:t>
            </a:r>
            <a:r>
              <a:rPr lang="zh-CN" altLang="en-US" dirty="0">
                <a:latin typeface="Times New Roman" panose="02020603050405020304" charset="0"/>
                <a:ea typeface="inherit"/>
                <a:cs typeface="Times New Roman" panose="02020603050405020304" charset="0"/>
                <a:sym typeface="+mn-ea"/>
              </a:rPr>
              <a:t>函数</a:t>
            </a:r>
            <a:endParaRPr lang="en-US" altLang="zh-CN" dirty="0">
              <a:latin typeface="Times New Roman" panose="02020603050405020304" charset="0"/>
              <a:ea typeface="inherit"/>
              <a:cs typeface="Times New Roman" panose="02020603050405020304" charset="0"/>
              <a:sym typeface="+mn-ea"/>
            </a:endParaRPr>
          </a:p>
          <a:p>
            <a:pPr marL="0" lvl="1"/>
            <a:r>
              <a:rPr lang="zh-CN" altLang="en-US" dirty="0"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登录</a:t>
            </a:r>
            <a:r>
              <a:rPr lang="en-US" altLang="zh-CN" dirty="0"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checkUserValid</a:t>
            </a:r>
            <a:r>
              <a:rPr lang="zh-CN" altLang="en-US" dirty="0"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函数：验证账户</a:t>
            </a:r>
            <a:r>
              <a:rPr lang="zh-CN" altLang="en-US" dirty="0"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信息</a:t>
            </a:r>
            <a:endParaRPr lang="zh-CN" altLang="en-US" dirty="0">
              <a:latin typeface="Times New Roman" panose="02020603050405020304" charset="0"/>
              <a:ea typeface="-apple-system"/>
              <a:cs typeface="Times New Roman" panose="02020603050405020304" charset="0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985" y="260985"/>
            <a:ext cx="4899660" cy="29419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35" y="2566670"/>
            <a:ext cx="4599940" cy="415988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3901440"/>
            <a:ext cx="5085080" cy="2069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命令描述：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8575" y="968375"/>
            <a:ext cx="5578475" cy="514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登录和注册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( 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login函数）</a:t>
            </a: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3265" y="1779905"/>
            <a:ext cx="4272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dirty="0"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登录</a:t>
            </a:r>
            <a:r>
              <a:rPr lang="en-US" altLang="zh-CN" dirty="0"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checkUserValid</a:t>
            </a:r>
            <a:r>
              <a:rPr lang="zh-CN" altLang="en-US" dirty="0"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函数：验证账户</a:t>
            </a:r>
            <a:r>
              <a:rPr lang="zh-CN" altLang="en-US" dirty="0">
                <a:latin typeface="Times New Roman" panose="02020603050405020304" charset="0"/>
                <a:ea typeface="-apple-system"/>
                <a:cs typeface="Times New Roman" panose="02020603050405020304" charset="0"/>
                <a:sym typeface="+mn-ea"/>
              </a:rPr>
              <a:t>信息</a:t>
            </a:r>
            <a:endParaRPr lang="zh-CN" altLang="en-US" dirty="0">
              <a:latin typeface="Times New Roman" panose="02020603050405020304" charset="0"/>
              <a:ea typeface="-apple-system"/>
              <a:cs typeface="Times New Roman" panose="02020603050405020304" charset="0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3018155"/>
            <a:ext cx="4899660" cy="29419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210" y="90170"/>
            <a:ext cx="6322060" cy="6563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命令说明：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1005" y="1054735"/>
            <a:ext cx="5578475" cy="514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显示菜单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( displaymenu）</a:t>
            </a: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6010" y="2663825"/>
            <a:ext cx="3291205" cy="4168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569720"/>
            <a:ext cx="9714865" cy="1295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命令描述：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6085" y="968375"/>
            <a:ext cx="5578475" cy="514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创建链表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( Create_Stu_Doc()函数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）</a:t>
            </a: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29410" y="5623560"/>
            <a:ext cx="8787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我们可以通过在main函数中调用这个函数来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创建学生信息链表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2175" y="1436370"/>
            <a:ext cx="4998720" cy="3985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命令描述：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7345" y="1273810"/>
            <a:ext cx="7327265" cy="79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eaLnBrk="0" fontAlgn="base" hangingPunct="0"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插入结点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( InsertDoc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函数）</a:t>
            </a: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3178630" y="2337628"/>
            <a:ext cx="730353" cy="391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77495" y="2337435"/>
            <a:ext cx="475361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此函数用于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增加学生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信息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891540"/>
            <a:ext cx="6884035" cy="5829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 bldLvl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命令描述：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7345" y="1273810"/>
            <a:ext cx="7327265" cy="79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eaLnBrk="0" fontAlgn="base" hangingPunct="0"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修改节点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( Modify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函数）</a:t>
            </a: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3178630" y="2337628"/>
            <a:ext cx="730353" cy="391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77495" y="2337435"/>
            <a:ext cx="475361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此函数用于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修改学生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信息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950" y="532765"/>
            <a:ext cx="8776970" cy="630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 bldLvl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命令描述：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7160" y="1099820"/>
            <a:ext cx="7435850" cy="514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eaLnBrk="0" fontAlgn="base" hangingPunct="0"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删除结点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( DeleteDoc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函数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）</a:t>
            </a: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4039690" y="2669098"/>
            <a:ext cx="730353" cy="391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48945" y="2663825"/>
            <a:ext cx="3921125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该函数用于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删除指定的学生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信息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0120" y="891540"/>
            <a:ext cx="6800850" cy="5462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 bldLvl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命令描述：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13360" y="852170"/>
            <a:ext cx="7435850" cy="980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eaLnBrk="0" fontAlgn="base" hangingPunct="0"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输出信息（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Print_Stu_Doc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函数）</a:t>
            </a: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4009210" y="3429193"/>
            <a:ext cx="730353" cy="391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48945" y="2663825"/>
            <a:ext cx="2799715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此函数用于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遍历链表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1"/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输出学生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信息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0165" y="1755775"/>
            <a:ext cx="6901180" cy="3465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 bldLvl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命令描述：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13360" y="852170"/>
            <a:ext cx="7435850" cy="980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eaLnBrk="0" fontAlgn="base" hangingPunct="0"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从文件中读取数据（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loadstudents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函数）</a:t>
            </a: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4009210" y="3429193"/>
            <a:ext cx="730353" cy="391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48945" y="2663825"/>
            <a:ext cx="2799715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此函数用于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将文件中的学生信息读取到链表中，并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计数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735" y="1214120"/>
            <a:ext cx="5908040" cy="5579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 bldLvl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7" name="平行四边形 16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90550" y="185420"/>
            <a:ext cx="644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命令描述：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71855" y="975995"/>
            <a:ext cx="7435850" cy="980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eaLnBrk="0" fontAlgn="base" hangingPunct="0"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存入文件（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savestudents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函数）</a:t>
            </a:r>
            <a:endParaRPr lang="zh-CN" altLang="en-US" sz="2400" b="1" dirty="0">
              <a:latin typeface="Arial" panose="020B0604020202020204" pitchFamily="34" charset="0"/>
              <a:sym typeface="+mn-ea"/>
            </a:endParaRPr>
          </a:p>
          <a:p>
            <a:pPr indent="0" algn="ctr" eaLnBrk="0" fontAlgn="base" hangingPunct="0"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None/>
            </a:pPr>
            <a:endParaRPr lang="zh-CN" altLang="en-US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23569" y="5057097"/>
            <a:ext cx="513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25392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8160" y="1635125"/>
            <a:ext cx="7265035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此函数用于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将链表中的数据存进文件，此处可以是新建的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文件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800" y="2299970"/>
            <a:ext cx="7631430" cy="417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325" y="14163"/>
            <a:ext cx="12192000" cy="6844030"/>
          </a:xfrm>
          <a:prstGeom prst="rect">
            <a:avLst/>
          </a:prstGeom>
        </p:spPr>
      </p:pic>
      <p:sp>
        <p:nvSpPr>
          <p:cNvPr id="3" name="TextBox 7"/>
          <p:cNvSpPr txBox="1"/>
          <p:nvPr/>
        </p:nvSpPr>
        <p:spPr>
          <a:xfrm>
            <a:off x="1975605" y="556399"/>
            <a:ext cx="9002119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</a:rPr>
              <a:t>本课的任务</a:t>
            </a:r>
            <a:endParaRPr lang="en-US" altLang="zh-CN" sz="4000" b="1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98551" y="1313514"/>
            <a:ext cx="9279173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Char char=""/>
            </a:pPr>
            <a:r>
              <a:rPr lang="en-US" altLang="zh-CN" sz="2800" dirty="0">
                <a:latin typeface="Arial" panose="020B0604020202020204" pitchFamily="34" charset="0"/>
              </a:rPr>
              <a:t>理解代码的逻辑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1.确定规范的目标</a:t>
            </a:r>
            <a:endParaRPr lang="en-US" altLang="zh-CN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2.解构代码架构</a:t>
            </a:r>
            <a:endParaRPr lang="en-US" altLang="zh-CN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3.逐行检查</a:t>
            </a:r>
            <a:endParaRPr lang="en-US" altLang="zh-CN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4.总结与结论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 2" panose="05020102010507070707" pitchFamily="18" charset="2"/>
              <a:buChar char=""/>
            </a:pPr>
            <a:r>
              <a:rPr lang="en-US" altLang="zh-CN" sz="2800" dirty="0">
                <a:latin typeface="Arial" panose="020B0604020202020204" pitchFamily="34" charset="0"/>
              </a:rPr>
              <a:t>在提供的代码库上进行创新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1、功能增强</a:t>
            </a:r>
            <a:endParaRPr lang="en-US" altLang="zh-CN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2、性能优化</a:t>
            </a:r>
            <a:endParaRPr lang="en-US" altLang="zh-CN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3、</a:t>
            </a:r>
            <a:r>
              <a:rPr lang="zh-CN" altLang="en-US" dirty="0"/>
              <a:t>功能创新</a:t>
            </a:r>
            <a:endParaRPr lang="en-US" altLang="zh-CN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4.我们的基准分数是60分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0" y="-2769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平行四边形 5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平行四边形 7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3" name="平行四边形 12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2" name="Freeform 15"/>
          <p:cNvSpPr>
            <a:spLocks noChangeAspect="1" noEditPoints="1"/>
          </p:cNvSpPr>
          <p:nvPr/>
        </p:nvSpPr>
        <p:spPr bwMode="auto">
          <a:xfrm>
            <a:off x="10298119" y="2361527"/>
            <a:ext cx="389728" cy="527065"/>
          </a:xfrm>
          <a:custGeom>
            <a:avLst/>
            <a:gdLst>
              <a:gd name="T0" fmla="*/ 114 w 214"/>
              <a:gd name="T1" fmla="*/ 53 h 268"/>
              <a:gd name="T2" fmla="*/ 114 w 214"/>
              <a:gd name="T3" fmla="*/ 0 h 268"/>
              <a:gd name="T4" fmla="*/ 95 w 214"/>
              <a:gd name="T5" fmla="*/ 0 h 268"/>
              <a:gd name="T6" fmla="*/ 95 w 214"/>
              <a:gd name="T7" fmla="*/ 53 h 268"/>
              <a:gd name="T8" fmla="*/ 0 w 214"/>
              <a:gd name="T9" fmla="*/ 53 h 268"/>
              <a:gd name="T10" fmla="*/ 0 w 214"/>
              <a:gd name="T11" fmla="*/ 268 h 268"/>
              <a:gd name="T12" fmla="*/ 214 w 214"/>
              <a:gd name="T13" fmla="*/ 268 h 268"/>
              <a:gd name="T14" fmla="*/ 214 w 214"/>
              <a:gd name="T15" fmla="*/ 53 h 268"/>
              <a:gd name="T16" fmla="*/ 114 w 214"/>
              <a:gd name="T17" fmla="*/ 53 h 268"/>
              <a:gd name="T18" fmla="*/ 195 w 214"/>
              <a:gd name="T19" fmla="*/ 248 h 268"/>
              <a:gd name="T20" fmla="*/ 19 w 214"/>
              <a:gd name="T21" fmla="*/ 248 h 268"/>
              <a:gd name="T22" fmla="*/ 19 w 214"/>
              <a:gd name="T23" fmla="*/ 71 h 268"/>
              <a:gd name="T24" fmla="*/ 95 w 214"/>
              <a:gd name="T25" fmla="*/ 71 h 268"/>
              <a:gd name="T26" fmla="*/ 95 w 214"/>
              <a:gd name="T27" fmla="*/ 182 h 268"/>
              <a:gd name="T28" fmla="*/ 63 w 214"/>
              <a:gd name="T29" fmla="*/ 151 h 268"/>
              <a:gd name="T30" fmla="*/ 51 w 214"/>
              <a:gd name="T31" fmla="*/ 165 h 268"/>
              <a:gd name="T32" fmla="*/ 105 w 214"/>
              <a:gd name="T33" fmla="*/ 221 h 268"/>
              <a:gd name="T34" fmla="*/ 161 w 214"/>
              <a:gd name="T35" fmla="*/ 165 h 268"/>
              <a:gd name="T36" fmla="*/ 149 w 214"/>
              <a:gd name="T37" fmla="*/ 151 h 268"/>
              <a:gd name="T38" fmla="*/ 114 w 214"/>
              <a:gd name="T39" fmla="*/ 182 h 268"/>
              <a:gd name="T40" fmla="*/ 114 w 214"/>
              <a:gd name="T41" fmla="*/ 71 h 268"/>
              <a:gd name="T42" fmla="*/ 195 w 214"/>
              <a:gd name="T43" fmla="*/ 71 h 268"/>
              <a:gd name="T44" fmla="*/ 195 w 214"/>
              <a:gd name="T45" fmla="*/ 24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14" h="268">
                <a:moveTo>
                  <a:pt x="114" y="53"/>
                </a:moveTo>
                <a:lnTo>
                  <a:pt x="114" y="0"/>
                </a:lnTo>
                <a:lnTo>
                  <a:pt x="95" y="0"/>
                </a:lnTo>
                <a:lnTo>
                  <a:pt x="95" y="53"/>
                </a:lnTo>
                <a:lnTo>
                  <a:pt x="0" y="53"/>
                </a:lnTo>
                <a:lnTo>
                  <a:pt x="0" y="268"/>
                </a:lnTo>
                <a:lnTo>
                  <a:pt x="214" y="268"/>
                </a:lnTo>
                <a:lnTo>
                  <a:pt x="214" y="53"/>
                </a:lnTo>
                <a:lnTo>
                  <a:pt x="114" y="53"/>
                </a:lnTo>
                <a:close/>
                <a:moveTo>
                  <a:pt x="195" y="248"/>
                </a:moveTo>
                <a:lnTo>
                  <a:pt x="19" y="248"/>
                </a:lnTo>
                <a:lnTo>
                  <a:pt x="19" y="71"/>
                </a:lnTo>
                <a:lnTo>
                  <a:pt x="95" y="71"/>
                </a:lnTo>
                <a:lnTo>
                  <a:pt x="95" y="182"/>
                </a:lnTo>
                <a:lnTo>
                  <a:pt x="63" y="151"/>
                </a:lnTo>
                <a:lnTo>
                  <a:pt x="51" y="165"/>
                </a:lnTo>
                <a:lnTo>
                  <a:pt x="105" y="221"/>
                </a:lnTo>
                <a:lnTo>
                  <a:pt x="161" y="165"/>
                </a:lnTo>
                <a:lnTo>
                  <a:pt x="149" y="151"/>
                </a:lnTo>
                <a:lnTo>
                  <a:pt x="114" y="182"/>
                </a:lnTo>
                <a:lnTo>
                  <a:pt x="114" y="71"/>
                </a:lnTo>
                <a:lnTo>
                  <a:pt x="195" y="71"/>
                </a:lnTo>
                <a:lnTo>
                  <a:pt x="195" y="248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66066" tIns="33033" rIns="66066" bIns="33033" numCol="1" anchor="t" anchorCtr="0" compatLnSpc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47040" indent="-1276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896620" indent="-25717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45565" indent="-3873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795145" indent="-51689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159766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191706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223647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255587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673735">
              <a:defRPr/>
            </a:pPr>
            <a:endParaRPr lang="en-US" kern="0" dirty="0">
              <a:solidFill>
                <a:srgbClr val="505050"/>
              </a:solidFill>
              <a:latin typeface="Segoe UI" panose="020B0502040204020203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90550" y="185420"/>
            <a:ext cx="894270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基本分(60分）说明：</a:t>
            </a:r>
            <a:endParaRPr lang="en-US" altLang="zh-CN" sz="36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13632" y="1123126"/>
            <a:ext cx="78294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实现注册登录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2660" y="1123097"/>
            <a:ext cx="153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示例1：</a:t>
            </a:r>
            <a:endParaRPr lang="zh-CN" altLang="en-US" b="1" dirty="0"/>
          </a:p>
        </p:txBody>
      </p:sp>
      <p:sp>
        <p:nvSpPr>
          <p:cNvPr id="41" name="箭头: 右 40"/>
          <p:cNvSpPr/>
          <p:nvPr/>
        </p:nvSpPr>
        <p:spPr>
          <a:xfrm rot="20340000">
            <a:off x="6645910" y="4122420"/>
            <a:ext cx="438150" cy="3695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90550" y="1769745"/>
            <a:ext cx="106902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step1: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注册：将注册信息写入文件并加密，加密算法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可用凯撒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密码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1185" y="2894330"/>
            <a:ext cx="108813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step2: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登录：验证文件的帐号密码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信息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1185" y="3829050"/>
            <a:ext cx="6544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step3: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登录成功反馈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Login successful 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反之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Login failed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41895" y="4606072"/>
            <a:ext cx="15376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/>
              <a:t>样例</a:t>
            </a:r>
            <a:endParaRPr lang="zh-CN" altLang="en-US" b="1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565" y="1025525"/>
            <a:ext cx="5004435" cy="438277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42620" y="4871720"/>
            <a:ext cx="654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优化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改进反馈是什么错误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得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41" grpId="1" bldLvl="0" animBg="1"/>
      <p:bldP spid="3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平行四边形 5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平行四边形 7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3" name="平行四边形 12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2" name="Freeform 15"/>
          <p:cNvSpPr>
            <a:spLocks noChangeAspect="1" noEditPoints="1"/>
          </p:cNvSpPr>
          <p:nvPr/>
        </p:nvSpPr>
        <p:spPr bwMode="auto">
          <a:xfrm>
            <a:off x="10298119" y="2361527"/>
            <a:ext cx="389728" cy="527065"/>
          </a:xfrm>
          <a:custGeom>
            <a:avLst/>
            <a:gdLst>
              <a:gd name="T0" fmla="*/ 114 w 214"/>
              <a:gd name="T1" fmla="*/ 53 h 268"/>
              <a:gd name="T2" fmla="*/ 114 w 214"/>
              <a:gd name="T3" fmla="*/ 0 h 268"/>
              <a:gd name="T4" fmla="*/ 95 w 214"/>
              <a:gd name="T5" fmla="*/ 0 h 268"/>
              <a:gd name="T6" fmla="*/ 95 w 214"/>
              <a:gd name="T7" fmla="*/ 53 h 268"/>
              <a:gd name="T8" fmla="*/ 0 w 214"/>
              <a:gd name="T9" fmla="*/ 53 h 268"/>
              <a:gd name="T10" fmla="*/ 0 w 214"/>
              <a:gd name="T11" fmla="*/ 268 h 268"/>
              <a:gd name="T12" fmla="*/ 214 w 214"/>
              <a:gd name="T13" fmla="*/ 268 h 268"/>
              <a:gd name="T14" fmla="*/ 214 w 214"/>
              <a:gd name="T15" fmla="*/ 53 h 268"/>
              <a:gd name="T16" fmla="*/ 114 w 214"/>
              <a:gd name="T17" fmla="*/ 53 h 268"/>
              <a:gd name="T18" fmla="*/ 195 w 214"/>
              <a:gd name="T19" fmla="*/ 248 h 268"/>
              <a:gd name="T20" fmla="*/ 19 w 214"/>
              <a:gd name="T21" fmla="*/ 248 h 268"/>
              <a:gd name="T22" fmla="*/ 19 w 214"/>
              <a:gd name="T23" fmla="*/ 71 h 268"/>
              <a:gd name="T24" fmla="*/ 95 w 214"/>
              <a:gd name="T25" fmla="*/ 71 h 268"/>
              <a:gd name="T26" fmla="*/ 95 w 214"/>
              <a:gd name="T27" fmla="*/ 182 h 268"/>
              <a:gd name="T28" fmla="*/ 63 w 214"/>
              <a:gd name="T29" fmla="*/ 151 h 268"/>
              <a:gd name="T30" fmla="*/ 51 w 214"/>
              <a:gd name="T31" fmla="*/ 165 h 268"/>
              <a:gd name="T32" fmla="*/ 105 w 214"/>
              <a:gd name="T33" fmla="*/ 221 h 268"/>
              <a:gd name="T34" fmla="*/ 161 w 214"/>
              <a:gd name="T35" fmla="*/ 165 h 268"/>
              <a:gd name="T36" fmla="*/ 149 w 214"/>
              <a:gd name="T37" fmla="*/ 151 h 268"/>
              <a:gd name="T38" fmla="*/ 114 w 214"/>
              <a:gd name="T39" fmla="*/ 182 h 268"/>
              <a:gd name="T40" fmla="*/ 114 w 214"/>
              <a:gd name="T41" fmla="*/ 71 h 268"/>
              <a:gd name="T42" fmla="*/ 195 w 214"/>
              <a:gd name="T43" fmla="*/ 71 h 268"/>
              <a:gd name="T44" fmla="*/ 195 w 214"/>
              <a:gd name="T45" fmla="*/ 24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14" h="268">
                <a:moveTo>
                  <a:pt x="114" y="53"/>
                </a:moveTo>
                <a:lnTo>
                  <a:pt x="114" y="0"/>
                </a:lnTo>
                <a:lnTo>
                  <a:pt x="95" y="0"/>
                </a:lnTo>
                <a:lnTo>
                  <a:pt x="95" y="53"/>
                </a:lnTo>
                <a:lnTo>
                  <a:pt x="0" y="53"/>
                </a:lnTo>
                <a:lnTo>
                  <a:pt x="0" y="268"/>
                </a:lnTo>
                <a:lnTo>
                  <a:pt x="214" y="268"/>
                </a:lnTo>
                <a:lnTo>
                  <a:pt x="214" y="53"/>
                </a:lnTo>
                <a:lnTo>
                  <a:pt x="114" y="53"/>
                </a:lnTo>
                <a:close/>
                <a:moveTo>
                  <a:pt x="195" y="248"/>
                </a:moveTo>
                <a:lnTo>
                  <a:pt x="19" y="248"/>
                </a:lnTo>
                <a:lnTo>
                  <a:pt x="19" y="71"/>
                </a:lnTo>
                <a:lnTo>
                  <a:pt x="95" y="71"/>
                </a:lnTo>
                <a:lnTo>
                  <a:pt x="95" y="182"/>
                </a:lnTo>
                <a:lnTo>
                  <a:pt x="63" y="151"/>
                </a:lnTo>
                <a:lnTo>
                  <a:pt x="51" y="165"/>
                </a:lnTo>
                <a:lnTo>
                  <a:pt x="105" y="221"/>
                </a:lnTo>
                <a:lnTo>
                  <a:pt x="161" y="165"/>
                </a:lnTo>
                <a:lnTo>
                  <a:pt x="149" y="151"/>
                </a:lnTo>
                <a:lnTo>
                  <a:pt x="114" y="182"/>
                </a:lnTo>
                <a:lnTo>
                  <a:pt x="114" y="71"/>
                </a:lnTo>
                <a:lnTo>
                  <a:pt x="195" y="71"/>
                </a:lnTo>
                <a:lnTo>
                  <a:pt x="195" y="248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66066" tIns="33033" rIns="66066" bIns="33033" numCol="1" anchor="t" anchorCtr="0" compatLnSpc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47040" indent="-1276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896620" indent="-25717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45565" indent="-3873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795145" indent="-51689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159766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191706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223647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255587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673735">
              <a:defRPr/>
            </a:pPr>
            <a:endParaRPr lang="en-US" kern="0" dirty="0">
              <a:solidFill>
                <a:srgbClr val="505050"/>
              </a:solidFill>
              <a:latin typeface="Segoe UI" panose="020B0502040204020203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90550" y="185420"/>
            <a:ext cx="894270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基本分(60分）说明：</a:t>
            </a:r>
            <a:endParaRPr lang="en-US" altLang="zh-CN" sz="36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3777" y="1154241"/>
            <a:ext cx="78294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创建链表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77720" y="1154212"/>
            <a:ext cx="15376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示例2：</a:t>
            </a:r>
            <a:endParaRPr lang="zh-CN" altLang="en-US" b="1" dirty="0"/>
          </a:p>
        </p:txBody>
      </p:sp>
      <p:sp>
        <p:nvSpPr>
          <p:cNvPr id="41" name="箭头: 右 40"/>
          <p:cNvSpPr/>
          <p:nvPr/>
        </p:nvSpPr>
        <p:spPr>
          <a:xfrm>
            <a:off x="4719320" y="2361565"/>
            <a:ext cx="911860" cy="3695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90550" y="1769745"/>
            <a:ext cx="6454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step1: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定义结构体类型和对应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结构指针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0550" y="2661920"/>
            <a:ext cx="5645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step2: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定义插入函数，实现链表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创建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19320" y="2044700"/>
            <a:ext cx="1093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/>
              <a:t>样例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730" y="741045"/>
            <a:ext cx="4524375" cy="576834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00380" y="4330700"/>
            <a:ext cx="654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优化改进：只输入学号为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时就结束输入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得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0550" y="3569970"/>
            <a:ext cx="5645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step3: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输入数据，直到输入的学号为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结束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输入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41" grpId="0" bldLvl="0" animBg="1"/>
      <p:bldP spid="16" grpId="0"/>
      <p:bldP spid="19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平行四边形 5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平行四边形 7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3" name="平行四边形 12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2" name="Freeform 15"/>
          <p:cNvSpPr>
            <a:spLocks noChangeAspect="1" noEditPoints="1"/>
          </p:cNvSpPr>
          <p:nvPr/>
        </p:nvSpPr>
        <p:spPr bwMode="auto">
          <a:xfrm>
            <a:off x="10298119" y="2361527"/>
            <a:ext cx="389728" cy="527065"/>
          </a:xfrm>
          <a:custGeom>
            <a:avLst/>
            <a:gdLst>
              <a:gd name="T0" fmla="*/ 114 w 214"/>
              <a:gd name="T1" fmla="*/ 53 h 268"/>
              <a:gd name="T2" fmla="*/ 114 w 214"/>
              <a:gd name="T3" fmla="*/ 0 h 268"/>
              <a:gd name="T4" fmla="*/ 95 w 214"/>
              <a:gd name="T5" fmla="*/ 0 h 268"/>
              <a:gd name="T6" fmla="*/ 95 w 214"/>
              <a:gd name="T7" fmla="*/ 53 h 268"/>
              <a:gd name="T8" fmla="*/ 0 w 214"/>
              <a:gd name="T9" fmla="*/ 53 h 268"/>
              <a:gd name="T10" fmla="*/ 0 w 214"/>
              <a:gd name="T11" fmla="*/ 268 h 268"/>
              <a:gd name="T12" fmla="*/ 214 w 214"/>
              <a:gd name="T13" fmla="*/ 268 h 268"/>
              <a:gd name="T14" fmla="*/ 214 w 214"/>
              <a:gd name="T15" fmla="*/ 53 h 268"/>
              <a:gd name="T16" fmla="*/ 114 w 214"/>
              <a:gd name="T17" fmla="*/ 53 h 268"/>
              <a:gd name="T18" fmla="*/ 195 w 214"/>
              <a:gd name="T19" fmla="*/ 248 h 268"/>
              <a:gd name="T20" fmla="*/ 19 w 214"/>
              <a:gd name="T21" fmla="*/ 248 h 268"/>
              <a:gd name="T22" fmla="*/ 19 w 214"/>
              <a:gd name="T23" fmla="*/ 71 h 268"/>
              <a:gd name="T24" fmla="*/ 95 w 214"/>
              <a:gd name="T25" fmla="*/ 71 h 268"/>
              <a:gd name="T26" fmla="*/ 95 w 214"/>
              <a:gd name="T27" fmla="*/ 182 h 268"/>
              <a:gd name="T28" fmla="*/ 63 w 214"/>
              <a:gd name="T29" fmla="*/ 151 h 268"/>
              <a:gd name="T30" fmla="*/ 51 w 214"/>
              <a:gd name="T31" fmla="*/ 165 h 268"/>
              <a:gd name="T32" fmla="*/ 105 w 214"/>
              <a:gd name="T33" fmla="*/ 221 h 268"/>
              <a:gd name="T34" fmla="*/ 161 w 214"/>
              <a:gd name="T35" fmla="*/ 165 h 268"/>
              <a:gd name="T36" fmla="*/ 149 w 214"/>
              <a:gd name="T37" fmla="*/ 151 h 268"/>
              <a:gd name="T38" fmla="*/ 114 w 214"/>
              <a:gd name="T39" fmla="*/ 182 h 268"/>
              <a:gd name="T40" fmla="*/ 114 w 214"/>
              <a:gd name="T41" fmla="*/ 71 h 268"/>
              <a:gd name="T42" fmla="*/ 195 w 214"/>
              <a:gd name="T43" fmla="*/ 71 h 268"/>
              <a:gd name="T44" fmla="*/ 195 w 214"/>
              <a:gd name="T45" fmla="*/ 24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14" h="268">
                <a:moveTo>
                  <a:pt x="114" y="53"/>
                </a:moveTo>
                <a:lnTo>
                  <a:pt x="114" y="0"/>
                </a:lnTo>
                <a:lnTo>
                  <a:pt x="95" y="0"/>
                </a:lnTo>
                <a:lnTo>
                  <a:pt x="95" y="53"/>
                </a:lnTo>
                <a:lnTo>
                  <a:pt x="0" y="53"/>
                </a:lnTo>
                <a:lnTo>
                  <a:pt x="0" y="268"/>
                </a:lnTo>
                <a:lnTo>
                  <a:pt x="214" y="268"/>
                </a:lnTo>
                <a:lnTo>
                  <a:pt x="214" y="53"/>
                </a:lnTo>
                <a:lnTo>
                  <a:pt x="114" y="53"/>
                </a:lnTo>
                <a:close/>
                <a:moveTo>
                  <a:pt x="195" y="248"/>
                </a:moveTo>
                <a:lnTo>
                  <a:pt x="19" y="248"/>
                </a:lnTo>
                <a:lnTo>
                  <a:pt x="19" y="71"/>
                </a:lnTo>
                <a:lnTo>
                  <a:pt x="95" y="71"/>
                </a:lnTo>
                <a:lnTo>
                  <a:pt x="95" y="182"/>
                </a:lnTo>
                <a:lnTo>
                  <a:pt x="63" y="151"/>
                </a:lnTo>
                <a:lnTo>
                  <a:pt x="51" y="165"/>
                </a:lnTo>
                <a:lnTo>
                  <a:pt x="105" y="221"/>
                </a:lnTo>
                <a:lnTo>
                  <a:pt x="161" y="165"/>
                </a:lnTo>
                <a:lnTo>
                  <a:pt x="149" y="151"/>
                </a:lnTo>
                <a:lnTo>
                  <a:pt x="114" y="182"/>
                </a:lnTo>
                <a:lnTo>
                  <a:pt x="114" y="71"/>
                </a:lnTo>
                <a:lnTo>
                  <a:pt x="195" y="71"/>
                </a:lnTo>
                <a:lnTo>
                  <a:pt x="195" y="248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66066" tIns="33033" rIns="66066" bIns="33033" numCol="1" anchor="t" anchorCtr="0" compatLnSpc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47040" indent="-1276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896620" indent="-25717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45565" indent="-3873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795145" indent="-51689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159766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191706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223647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255587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673735">
              <a:defRPr/>
            </a:pPr>
            <a:endParaRPr lang="en-US" kern="0" dirty="0">
              <a:solidFill>
                <a:srgbClr val="505050"/>
              </a:solidFill>
              <a:latin typeface="Segoe UI" panose="020B0502040204020203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90550" y="185420"/>
            <a:ext cx="894270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基本分(60分）说明：</a:t>
            </a:r>
            <a:endParaRPr lang="en-US" altLang="zh-CN" sz="36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3777" y="1154241"/>
            <a:ext cx="78294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插入节点和修改节点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77720" y="1154212"/>
            <a:ext cx="15376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示例3：</a:t>
            </a:r>
            <a:endParaRPr lang="zh-CN" altLang="en-US" b="1" dirty="0"/>
          </a:p>
        </p:txBody>
      </p:sp>
      <p:sp>
        <p:nvSpPr>
          <p:cNvPr id="41" name="箭头: 右 40"/>
          <p:cNvSpPr/>
          <p:nvPr/>
        </p:nvSpPr>
        <p:spPr>
          <a:xfrm>
            <a:off x="4472305" y="2536190"/>
            <a:ext cx="911860" cy="3695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90550" y="1769745"/>
            <a:ext cx="6454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删除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输入学号，删除对应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信息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18160" y="3106420"/>
            <a:ext cx="5645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打印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输入所有学生信息，显示在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屏幕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72305" y="2159000"/>
            <a:ext cx="1093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/>
              <a:t>样例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500380" y="4330700"/>
            <a:ext cx="654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优化改进：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添加删除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的数据验证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得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3535" y="185420"/>
            <a:ext cx="2852420" cy="43668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325" y="190500"/>
            <a:ext cx="4429125" cy="647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41" grpId="0" bldLvl="0" animBg="1"/>
      <p:bldP spid="16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平行四边形 5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平行四边形 7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3" name="平行四边形 12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2" name="Freeform 15"/>
          <p:cNvSpPr>
            <a:spLocks noChangeAspect="1" noEditPoints="1"/>
          </p:cNvSpPr>
          <p:nvPr/>
        </p:nvSpPr>
        <p:spPr bwMode="auto">
          <a:xfrm>
            <a:off x="10298119" y="2361527"/>
            <a:ext cx="389728" cy="527065"/>
          </a:xfrm>
          <a:custGeom>
            <a:avLst/>
            <a:gdLst>
              <a:gd name="T0" fmla="*/ 114 w 214"/>
              <a:gd name="T1" fmla="*/ 53 h 268"/>
              <a:gd name="T2" fmla="*/ 114 w 214"/>
              <a:gd name="T3" fmla="*/ 0 h 268"/>
              <a:gd name="T4" fmla="*/ 95 w 214"/>
              <a:gd name="T5" fmla="*/ 0 h 268"/>
              <a:gd name="T6" fmla="*/ 95 w 214"/>
              <a:gd name="T7" fmla="*/ 53 h 268"/>
              <a:gd name="T8" fmla="*/ 0 w 214"/>
              <a:gd name="T9" fmla="*/ 53 h 268"/>
              <a:gd name="T10" fmla="*/ 0 w 214"/>
              <a:gd name="T11" fmla="*/ 268 h 268"/>
              <a:gd name="T12" fmla="*/ 214 w 214"/>
              <a:gd name="T13" fmla="*/ 268 h 268"/>
              <a:gd name="T14" fmla="*/ 214 w 214"/>
              <a:gd name="T15" fmla="*/ 53 h 268"/>
              <a:gd name="T16" fmla="*/ 114 w 214"/>
              <a:gd name="T17" fmla="*/ 53 h 268"/>
              <a:gd name="T18" fmla="*/ 195 w 214"/>
              <a:gd name="T19" fmla="*/ 248 h 268"/>
              <a:gd name="T20" fmla="*/ 19 w 214"/>
              <a:gd name="T21" fmla="*/ 248 h 268"/>
              <a:gd name="T22" fmla="*/ 19 w 214"/>
              <a:gd name="T23" fmla="*/ 71 h 268"/>
              <a:gd name="T24" fmla="*/ 95 w 214"/>
              <a:gd name="T25" fmla="*/ 71 h 268"/>
              <a:gd name="T26" fmla="*/ 95 w 214"/>
              <a:gd name="T27" fmla="*/ 182 h 268"/>
              <a:gd name="T28" fmla="*/ 63 w 214"/>
              <a:gd name="T29" fmla="*/ 151 h 268"/>
              <a:gd name="T30" fmla="*/ 51 w 214"/>
              <a:gd name="T31" fmla="*/ 165 h 268"/>
              <a:gd name="T32" fmla="*/ 105 w 214"/>
              <a:gd name="T33" fmla="*/ 221 h 268"/>
              <a:gd name="T34" fmla="*/ 161 w 214"/>
              <a:gd name="T35" fmla="*/ 165 h 268"/>
              <a:gd name="T36" fmla="*/ 149 w 214"/>
              <a:gd name="T37" fmla="*/ 151 h 268"/>
              <a:gd name="T38" fmla="*/ 114 w 214"/>
              <a:gd name="T39" fmla="*/ 182 h 268"/>
              <a:gd name="T40" fmla="*/ 114 w 214"/>
              <a:gd name="T41" fmla="*/ 71 h 268"/>
              <a:gd name="T42" fmla="*/ 195 w 214"/>
              <a:gd name="T43" fmla="*/ 71 h 268"/>
              <a:gd name="T44" fmla="*/ 195 w 214"/>
              <a:gd name="T45" fmla="*/ 24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14" h="268">
                <a:moveTo>
                  <a:pt x="114" y="53"/>
                </a:moveTo>
                <a:lnTo>
                  <a:pt x="114" y="0"/>
                </a:lnTo>
                <a:lnTo>
                  <a:pt x="95" y="0"/>
                </a:lnTo>
                <a:lnTo>
                  <a:pt x="95" y="53"/>
                </a:lnTo>
                <a:lnTo>
                  <a:pt x="0" y="53"/>
                </a:lnTo>
                <a:lnTo>
                  <a:pt x="0" y="268"/>
                </a:lnTo>
                <a:lnTo>
                  <a:pt x="214" y="268"/>
                </a:lnTo>
                <a:lnTo>
                  <a:pt x="214" y="53"/>
                </a:lnTo>
                <a:lnTo>
                  <a:pt x="114" y="53"/>
                </a:lnTo>
                <a:close/>
                <a:moveTo>
                  <a:pt x="195" y="248"/>
                </a:moveTo>
                <a:lnTo>
                  <a:pt x="19" y="248"/>
                </a:lnTo>
                <a:lnTo>
                  <a:pt x="19" y="71"/>
                </a:lnTo>
                <a:lnTo>
                  <a:pt x="95" y="71"/>
                </a:lnTo>
                <a:lnTo>
                  <a:pt x="95" y="182"/>
                </a:lnTo>
                <a:lnTo>
                  <a:pt x="63" y="151"/>
                </a:lnTo>
                <a:lnTo>
                  <a:pt x="51" y="165"/>
                </a:lnTo>
                <a:lnTo>
                  <a:pt x="105" y="221"/>
                </a:lnTo>
                <a:lnTo>
                  <a:pt x="161" y="165"/>
                </a:lnTo>
                <a:lnTo>
                  <a:pt x="149" y="151"/>
                </a:lnTo>
                <a:lnTo>
                  <a:pt x="114" y="182"/>
                </a:lnTo>
                <a:lnTo>
                  <a:pt x="114" y="71"/>
                </a:lnTo>
                <a:lnTo>
                  <a:pt x="195" y="71"/>
                </a:lnTo>
                <a:lnTo>
                  <a:pt x="195" y="248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66066" tIns="33033" rIns="66066" bIns="33033" numCol="1" anchor="t" anchorCtr="0" compatLnSpc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47040" indent="-1276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896620" indent="-25717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45565" indent="-3873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795145" indent="-51689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159766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191706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223647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255587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673735">
              <a:defRPr/>
            </a:pPr>
            <a:endParaRPr lang="en-US" kern="0" dirty="0">
              <a:solidFill>
                <a:srgbClr val="505050"/>
              </a:solidFill>
              <a:latin typeface="Segoe UI" panose="020B0502040204020203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90550" y="185420"/>
            <a:ext cx="894270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基本分(60分）说明：</a:t>
            </a:r>
            <a:endParaRPr lang="en-US" altLang="zh-CN" sz="36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3777" y="1154241"/>
            <a:ext cx="78294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删除和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打印链表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77720" y="1154212"/>
            <a:ext cx="15376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示例4：</a:t>
            </a:r>
            <a:endParaRPr lang="zh-CN" altLang="en-US" b="1" dirty="0"/>
          </a:p>
        </p:txBody>
      </p:sp>
      <p:sp>
        <p:nvSpPr>
          <p:cNvPr id="41" name="箭头: 右 40"/>
          <p:cNvSpPr/>
          <p:nvPr/>
        </p:nvSpPr>
        <p:spPr>
          <a:xfrm>
            <a:off x="4472305" y="2536190"/>
            <a:ext cx="911860" cy="3695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90550" y="1769745"/>
            <a:ext cx="6454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删除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输入学号，删除对应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信息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18160" y="3106420"/>
            <a:ext cx="5645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打印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输入所有学生信息，显示在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屏幕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72305" y="2159000"/>
            <a:ext cx="1093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/>
              <a:t>样例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500380" y="4330700"/>
            <a:ext cx="654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优化改进：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添加删除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的数据验证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得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300" y="318770"/>
            <a:ext cx="4223385" cy="6437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41" grpId="0" bldLvl="0" animBg="1"/>
      <p:bldP spid="16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-350519" y="0"/>
            <a:ext cx="868680" cy="761999"/>
          </a:xfrm>
          <a:prstGeom prst="parallelogram">
            <a:avLst>
              <a:gd name="adj" fmla="val 43185"/>
            </a:avLst>
          </a:pr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7241" y="0"/>
            <a:ext cx="2604303" cy="185195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345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平行四边形 5"/>
          <p:cNvSpPr/>
          <p:nvPr/>
        </p:nvSpPr>
        <p:spPr>
          <a:xfrm>
            <a:off x="137162" y="90238"/>
            <a:ext cx="662938" cy="58152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34581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平行四边形 6"/>
          <p:cNvSpPr/>
          <p:nvPr/>
        </p:nvSpPr>
        <p:spPr>
          <a:xfrm>
            <a:off x="2337751" y="223989"/>
            <a:ext cx="465739" cy="408543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平行四边形 7"/>
          <p:cNvSpPr/>
          <p:nvPr/>
        </p:nvSpPr>
        <p:spPr>
          <a:xfrm>
            <a:off x="2713309" y="0"/>
            <a:ext cx="465739" cy="761999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平行四边形 8"/>
          <p:cNvSpPr/>
          <p:nvPr/>
        </p:nvSpPr>
        <p:spPr>
          <a:xfrm>
            <a:off x="-56225" y="402311"/>
            <a:ext cx="386773" cy="3392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/>
          <p:cNvSpPr/>
          <p:nvPr/>
        </p:nvSpPr>
        <p:spPr>
          <a:xfrm>
            <a:off x="-28317" y="147908"/>
            <a:ext cx="305524" cy="268004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518161" y="761999"/>
            <a:ext cx="11450062" cy="0"/>
          </a:xfrm>
          <a:prstGeom prst="line">
            <a:avLst/>
          </a:prstGeom>
          <a:ln w="12700">
            <a:solidFill>
              <a:srgbClr val="8EB3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1471626" y="595594"/>
            <a:ext cx="465739" cy="121286"/>
            <a:chOff x="11369042" y="568879"/>
            <a:chExt cx="568324" cy="148001"/>
          </a:xfrm>
        </p:grpSpPr>
        <p:sp>
          <p:nvSpPr>
            <p:cNvPr id="13" name="平行四边形 12"/>
            <p:cNvSpPr/>
            <p:nvPr/>
          </p:nvSpPr>
          <p:spPr>
            <a:xfrm>
              <a:off x="11369042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0345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11653204" y="568879"/>
              <a:ext cx="284162" cy="148001"/>
            </a:xfrm>
            <a:prstGeom prst="parallelogram">
              <a:avLst>
                <a:gd name="adj" fmla="val 43185"/>
              </a:avLst>
            </a:prstGeom>
            <a:solidFill>
              <a:srgbClr val="8EB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2" name="Freeform 15"/>
          <p:cNvSpPr>
            <a:spLocks noChangeAspect="1" noEditPoints="1"/>
          </p:cNvSpPr>
          <p:nvPr/>
        </p:nvSpPr>
        <p:spPr bwMode="auto">
          <a:xfrm>
            <a:off x="10298119" y="2361527"/>
            <a:ext cx="389728" cy="527065"/>
          </a:xfrm>
          <a:custGeom>
            <a:avLst/>
            <a:gdLst>
              <a:gd name="T0" fmla="*/ 114 w 214"/>
              <a:gd name="T1" fmla="*/ 53 h 268"/>
              <a:gd name="T2" fmla="*/ 114 w 214"/>
              <a:gd name="T3" fmla="*/ 0 h 268"/>
              <a:gd name="T4" fmla="*/ 95 w 214"/>
              <a:gd name="T5" fmla="*/ 0 h 268"/>
              <a:gd name="T6" fmla="*/ 95 w 214"/>
              <a:gd name="T7" fmla="*/ 53 h 268"/>
              <a:gd name="T8" fmla="*/ 0 w 214"/>
              <a:gd name="T9" fmla="*/ 53 h 268"/>
              <a:gd name="T10" fmla="*/ 0 w 214"/>
              <a:gd name="T11" fmla="*/ 268 h 268"/>
              <a:gd name="T12" fmla="*/ 214 w 214"/>
              <a:gd name="T13" fmla="*/ 268 h 268"/>
              <a:gd name="T14" fmla="*/ 214 w 214"/>
              <a:gd name="T15" fmla="*/ 53 h 268"/>
              <a:gd name="T16" fmla="*/ 114 w 214"/>
              <a:gd name="T17" fmla="*/ 53 h 268"/>
              <a:gd name="T18" fmla="*/ 195 w 214"/>
              <a:gd name="T19" fmla="*/ 248 h 268"/>
              <a:gd name="T20" fmla="*/ 19 w 214"/>
              <a:gd name="T21" fmla="*/ 248 h 268"/>
              <a:gd name="T22" fmla="*/ 19 w 214"/>
              <a:gd name="T23" fmla="*/ 71 h 268"/>
              <a:gd name="T24" fmla="*/ 95 w 214"/>
              <a:gd name="T25" fmla="*/ 71 h 268"/>
              <a:gd name="T26" fmla="*/ 95 w 214"/>
              <a:gd name="T27" fmla="*/ 182 h 268"/>
              <a:gd name="T28" fmla="*/ 63 w 214"/>
              <a:gd name="T29" fmla="*/ 151 h 268"/>
              <a:gd name="T30" fmla="*/ 51 w 214"/>
              <a:gd name="T31" fmla="*/ 165 h 268"/>
              <a:gd name="T32" fmla="*/ 105 w 214"/>
              <a:gd name="T33" fmla="*/ 221 h 268"/>
              <a:gd name="T34" fmla="*/ 161 w 214"/>
              <a:gd name="T35" fmla="*/ 165 h 268"/>
              <a:gd name="T36" fmla="*/ 149 w 214"/>
              <a:gd name="T37" fmla="*/ 151 h 268"/>
              <a:gd name="T38" fmla="*/ 114 w 214"/>
              <a:gd name="T39" fmla="*/ 182 h 268"/>
              <a:gd name="T40" fmla="*/ 114 w 214"/>
              <a:gd name="T41" fmla="*/ 71 h 268"/>
              <a:gd name="T42" fmla="*/ 195 w 214"/>
              <a:gd name="T43" fmla="*/ 71 h 268"/>
              <a:gd name="T44" fmla="*/ 195 w 214"/>
              <a:gd name="T45" fmla="*/ 24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14" h="268">
                <a:moveTo>
                  <a:pt x="114" y="53"/>
                </a:moveTo>
                <a:lnTo>
                  <a:pt x="114" y="0"/>
                </a:lnTo>
                <a:lnTo>
                  <a:pt x="95" y="0"/>
                </a:lnTo>
                <a:lnTo>
                  <a:pt x="95" y="53"/>
                </a:lnTo>
                <a:lnTo>
                  <a:pt x="0" y="53"/>
                </a:lnTo>
                <a:lnTo>
                  <a:pt x="0" y="268"/>
                </a:lnTo>
                <a:lnTo>
                  <a:pt x="214" y="268"/>
                </a:lnTo>
                <a:lnTo>
                  <a:pt x="214" y="53"/>
                </a:lnTo>
                <a:lnTo>
                  <a:pt x="114" y="53"/>
                </a:lnTo>
                <a:close/>
                <a:moveTo>
                  <a:pt x="195" y="248"/>
                </a:moveTo>
                <a:lnTo>
                  <a:pt x="19" y="248"/>
                </a:lnTo>
                <a:lnTo>
                  <a:pt x="19" y="71"/>
                </a:lnTo>
                <a:lnTo>
                  <a:pt x="95" y="71"/>
                </a:lnTo>
                <a:lnTo>
                  <a:pt x="95" y="182"/>
                </a:lnTo>
                <a:lnTo>
                  <a:pt x="63" y="151"/>
                </a:lnTo>
                <a:lnTo>
                  <a:pt x="51" y="165"/>
                </a:lnTo>
                <a:lnTo>
                  <a:pt x="105" y="221"/>
                </a:lnTo>
                <a:lnTo>
                  <a:pt x="161" y="165"/>
                </a:lnTo>
                <a:lnTo>
                  <a:pt x="149" y="151"/>
                </a:lnTo>
                <a:lnTo>
                  <a:pt x="114" y="182"/>
                </a:lnTo>
                <a:lnTo>
                  <a:pt x="114" y="71"/>
                </a:lnTo>
                <a:lnTo>
                  <a:pt x="195" y="71"/>
                </a:lnTo>
                <a:lnTo>
                  <a:pt x="195" y="248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miter lim="800000"/>
          </a:ln>
        </p:spPr>
        <p:txBody>
          <a:bodyPr vert="horz" wrap="square" lIns="66066" tIns="33033" rIns="66066" bIns="33033" numCol="1" anchor="t" anchorCtr="0" compatLnSpc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47040" indent="-1276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896620" indent="-25717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45565" indent="-3873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795145" indent="-51689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159766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191706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2236470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2555875" algn="l" defTabSz="63881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673735">
              <a:defRPr/>
            </a:pPr>
            <a:endParaRPr lang="en-US" kern="0" dirty="0">
              <a:solidFill>
                <a:srgbClr val="505050"/>
              </a:solidFill>
              <a:latin typeface="Segoe UI" panose="020B0502040204020203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90550" y="185420"/>
            <a:ext cx="894270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基本分(60分）说明：</a:t>
            </a:r>
            <a:endParaRPr lang="en-US" altLang="zh-CN" sz="36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3777" y="1154241"/>
            <a:ext cx="78294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加载和保存文件各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77720" y="1154212"/>
            <a:ext cx="15376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示例5：</a:t>
            </a:r>
            <a:endParaRPr lang="zh-CN" altLang="en-US" b="1" dirty="0"/>
          </a:p>
        </p:txBody>
      </p:sp>
      <p:sp>
        <p:nvSpPr>
          <p:cNvPr id="41" name="箭头: 右 40"/>
          <p:cNvSpPr/>
          <p:nvPr/>
        </p:nvSpPr>
        <p:spPr>
          <a:xfrm>
            <a:off x="4472305" y="2536190"/>
            <a:ext cx="911860" cy="3695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90550" y="1769745"/>
            <a:ext cx="6454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加载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将已有的学生文件，加载到内存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中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18160" y="3106420"/>
            <a:ext cx="5645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保存文件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将操作后的数据链表中的学生信息保存到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文件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72305" y="2159000"/>
            <a:ext cx="1093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/>
              <a:t>样例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500380" y="4330700"/>
            <a:ext cx="654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优化改进：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二进制操作之类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得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分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0080" y="716915"/>
            <a:ext cx="4243070" cy="47167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365" y="782955"/>
            <a:ext cx="5143500" cy="4238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41" grpId="0" bldLvl="0" animBg="1"/>
      <p:bldP spid="16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325" y="14163"/>
            <a:ext cx="12192000" cy="6844030"/>
          </a:xfrm>
          <a:prstGeom prst="rect">
            <a:avLst/>
          </a:prstGeom>
        </p:spPr>
      </p:pic>
      <p:sp>
        <p:nvSpPr>
          <p:cNvPr id="3" name="TextBox 7"/>
          <p:cNvSpPr txBox="1"/>
          <p:nvPr/>
        </p:nvSpPr>
        <p:spPr>
          <a:xfrm>
            <a:off x="1975605" y="556399"/>
            <a:ext cx="9002119" cy="70675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</a:rPr>
              <a:t>扩展功能</a:t>
            </a:r>
            <a:endParaRPr lang="en-US" altLang="zh-CN" sz="4000" b="1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35151" y="1817069"/>
            <a:ext cx="9279173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Arial" panose="020B0604020202020204" pitchFamily="34" charset="0"/>
            </a:endParaRPr>
          </a:p>
          <a:p>
            <a:pPr algn="l" eaLnBrk="0" fontAlgn="base" hangingPunct="0">
              <a:buClrTx/>
              <a:buSzTx/>
              <a:buFontTx/>
            </a:pP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扩展功能举例</a:t>
            </a:r>
            <a:endParaRPr lang="en-US" altLang="zh-CN" sz="1800" b="1" dirty="0"/>
          </a:p>
          <a:p>
            <a:pPr algn="l" eaLnBrk="0" fontAlgn="base" hangingPunct="0">
              <a:buClrTx/>
              <a:buSzTx/>
              <a:buNone/>
            </a:pPr>
            <a:r>
              <a:rPr lang="en-US" altLang="zh-CN" sz="1800" dirty="0"/>
              <a:t>(1)实现多文件系统  </a:t>
            </a:r>
            <a:endParaRPr lang="en-US" altLang="zh-CN" sz="1800" dirty="0"/>
          </a:p>
          <a:p>
            <a:pPr algn="l" eaLnBrk="0" fontAlgn="base" hangingPunct="0">
              <a:buClrTx/>
              <a:buSzTx/>
              <a:buNone/>
            </a:pPr>
            <a:r>
              <a:rPr lang="en-US" altLang="zh-CN" sz="1800" dirty="0"/>
              <a:t>(2)添加数据验证（学号唯一性、成绩0-100范围等）  </a:t>
            </a:r>
            <a:endParaRPr lang="en-US" altLang="zh-CN" sz="1800" dirty="0"/>
          </a:p>
          <a:p>
            <a:pPr algn="l" eaLnBrk="0" fontAlgn="base" hangingPunct="0">
              <a:buClrTx/>
              <a:buSzTx/>
              <a:buNone/>
            </a:pPr>
            <a:r>
              <a:rPr lang="en-US" altLang="zh-CN" sz="1800" dirty="0"/>
              <a:t>(3)支持模糊查询（姓名部分匹配）  </a:t>
            </a:r>
            <a:endParaRPr lang="en-US" altLang="zh-CN" sz="1800" dirty="0"/>
          </a:p>
          <a:p>
            <a:pPr algn="l" eaLnBrk="0" fontAlgn="base" hangingPunct="0">
              <a:buClrTx/>
              <a:buSzTx/>
              <a:buNone/>
            </a:pPr>
            <a:r>
              <a:rPr lang="en-US" altLang="zh-CN" sz="1800" dirty="0"/>
              <a:t>(4)奖学金评定</a:t>
            </a:r>
            <a:endParaRPr lang="en-US" altLang="zh-CN" sz="1800" dirty="0"/>
          </a:p>
          <a:p>
            <a:pPr algn="l" eaLnBrk="0" fontAlgn="base" hangingPunct="0">
              <a:buClrTx/>
              <a:buSzTx/>
              <a:buNone/>
            </a:pPr>
            <a:r>
              <a:rPr lang="en-US" altLang="zh-CN" sz="1800" dirty="0"/>
              <a:t>(5)实现用户注册和登录//这个讲解演示  不算</a:t>
            </a:r>
            <a:endParaRPr lang="en-US" altLang="zh-CN" sz="1800" dirty="0"/>
          </a:p>
          <a:p>
            <a:pPr algn="l" eaLnBrk="0" fontAlgn="base" hangingPunct="0">
              <a:buClrTx/>
              <a:buSzTx/>
              <a:buNone/>
            </a:pPr>
            <a:r>
              <a:rPr lang="en-US" altLang="zh-CN" sz="1800" dirty="0"/>
              <a:t>(6)使用二进制文件提高存储效率  //这个要对应保存和导入两个模块</a:t>
            </a:r>
            <a:endParaRPr lang="en-US" altLang="zh-CN" sz="1800" dirty="0"/>
          </a:p>
          <a:p>
            <a:pPr algn="l" eaLnBrk="0" fontAlgn="base" hangingPunct="0">
              <a:buClrTx/>
              <a:buSzTx/>
              <a:buNone/>
            </a:pPr>
            <a:r>
              <a:rPr lang="en-US" altLang="zh-CN" sz="1800" dirty="0"/>
              <a:t>(7)其它自定义功能在提供的代码库上进行创新</a:t>
            </a:r>
            <a:endParaRPr lang="en-US" altLang="zh-CN" sz="18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zh-CN" altLang="en-US" b="1" dirty="0">
                <a:latin typeface="Arial" panose="020B0604020202020204" pitchFamily="34" charset="0"/>
                <a:sym typeface="+mn-ea"/>
              </a:rPr>
              <a:t>扩展功能</a:t>
            </a:r>
            <a:r>
              <a:rPr lang="en-US" altLang="zh-CN" b="1" dirty="0"/>
              <a:t>分数是20分</a:t>
            </a:r>
            <a:endParaRPr lang="en-US" altLang="zh-CN" b="1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3</a:t>
            </a:r>
            <a:r>
              <a:rPr lang="zh-CN" altLang="en-US" b="1" dirty="0"/>
              <a:t>、所有功能代码质量</a:t>
            </a:r>
            <a:r>
              <a:rPr lang="en-US" altLang="zh-CN" sz="2800" b="1" dirty="0">
                <a:latin typeface="Arial" panose="020B0604020202020204" pitchFamily="34" charset="0"/>
              </a:rPr>
              <a:t>10</a:t>
            </a:r>
            <a:r>
              <a:rPr lang="zh-CN" altLang="en-US" sz="2800" b="1" dirty="0">
                <a:latin typeface="Arial" panose="020B0604020202020204" pitchFamily="34" charset="0"/>
              </a:rPr>
              <a:t>分。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0" y="-276999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6930,&quot;width&quot;:12345}"/>
</p:tagLst>
</file>

<file path=ppt/tags/tag2.xml><?xml version="1.0" encoding="utf-8"?>
<p:tagLst xmlns:p="http://schemas.openxmlformats.org/presentationml/2006/main">
  <p:tag name="KSO_WM_UNIT_PLACING_PICTURE_USER_VIEWPORT" val="{&quot;height&quot;:6930,&quot;width&quot;:12345}"/>
</p:tagLst>
</file>

<file path=ppt/tags/tag3.xml><?xml version="1.0" encoding="utf-8"?>
<p:tagLst xmlns:p="http://schemas.openxmlformats.org/presentationml/2006/main">
  <p:tag name="KSO_WM_UNIT_PLACING_PICTURE_USER_VIEWPORT" val="{&quot;height&quot;:6930,&quot;width&quot;:12345}"/>
</p:tagLst>
</file>

<file path=ppt/tags/tag4.xml><?xml version="1.0" encoding="utf-8"?>
<p:tagLst xmlns:p="http://schemas.openxmlformats.org/presentationml/2006/main">
  <p:tag name="KSO_WM_UNIT_PLACING_PICTURE_USER_VIEWPORT" val="{&quot;height&quot;:6930,&quot;width&quot;:12345}"/>
</p:tagLst>
</file>

<file path=ppt/tags/tag5.xml><?xml version="1.0" encoding="utf-8"?>
<p:tagLst xmlns:p="http://schemas.openxmlformats.org/presentationml/2006/main">
  <p:tag name="ISPRING_PRESENTATION_TITLE" val="PowerPoint 演示文稿"/>
  <p:tag name="ISPRING_FIRST_PUBLISH" val="1"/>
  <p:tag name="KSO_WPP_MARK_KEY" val="9f05f544-32b0-4399-81a0-445691e379ff"/>
  <p:tag name="COMMONDATA" val="eyJoZGlkIjoiZmI2M2VmYmRlMmVkYWI3NzE1MjNiMzNmZWUzMTg4ZW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1652</Words>
  <Application>WPS 演示</Application>
  <PresentationFormat>宽屏</PresentationFormat>
  <Paragraphs>210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Microsoft YaHei</vt:lpstr>
      <vt:lpstr>Wingdings 2</vt:lpstr>
      <vt:lpstr>Times New Roman</vt:lpstr>
      <vt:lpstr>inherit</vt:lpstr>
      <vt:lpstr>FFont-Family</vt:lpstr>
      <vt:lpstr>-apple-system</vt:lpstr>
      <vt:lpstr>Calibri</vt:lpstr>
      <vt:lpstr>Segoe UI</vt:lpstr>
      <vt:lpstr>DengXian</vt:lpstr>
      <vt:lpstr>DengXian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72</cp:revision>
  <dcterms:created xsi:type="dcterms:W3CDTF">2019-07-29T02:25:00Z</dcterms:created>
  <dcterms:modified xsi:type="dcterms:W3CDTF">2026-07-15T15:52:39Z</dcterms:modified>
</cp:coreProperties>
</file>